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uli Bold" charset="1" panose="00000800000000000000"/>
      <p:regular r:id="rId24"/>
    </p:embeddedFont>
    <p:embeddedFont>
      <p:font typeface="Muli Bold Italics" charset="1" panose="00000800000000000000"/>
      <p:regular r:id="rId25"/>
    </p:embeddedFont>
    <p:embeddedFont>
      <p:font typeface="Muli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27483" y="2299697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954842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901327" y="338652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491" y="1606071"/>
            <a:ext cx="324237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DOM TEAM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629140"/>
            <a:ext cx="13314272" cy="3092950"/>
            <a:chOff x="0" y="0"/>
            <a:chExt cx="17752363" cy="41239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243400"/>
              <a:ext cx="17752363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b="true" sz="3999" i="true" spc="-43">
                  <a:solidFill>
                    <a:srgbClr val="000000"/>
                  </a:solidFill>
                  <a:latin typeface="Muli Bold Italics"/>
                  <a:ea typeface="Muli Bold Italics"/>
                  <a:cs typeface="Muli Bold Italics"/>
                  <a:sym typeface="Muli Bold Italics"/>
                </a:rPr>
                <a:t>A Data-driven Solution to the Demand Illusion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17752363" cy="3188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799"/>
                </a:lnSpc>
              </a:pPr>
              <a:r>
                <a:rPr lang="en-US" sz="6999" spc="-76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Reconstructing</a:t>
              </a:r>
              <a:r>
                <a:rPr lang="en-US" sz="6999" spc="-76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Demand and Forecasting for Fresh Retail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23358" y="1606071"/>
            <a:ext cx="46843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DATASTORM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211000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b="true" sz="6500" spc="-65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The Fresh Retail Dilema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94633"/>
            <a:ext cx="16230600" cy="522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The fresh</a:t>
            </a: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food industry faces a high-stakes balancing act: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Overstocking: Leads to spoilage, financial loss, and significant food waste.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Understocking: Results in stockouts, lost sales, and reduced customer loyalty.</a:t>
            </a:r>
          </a:p>
          <a:p>
            <a:pPr algn="just">
              <a:lnSpc>
                <a:spcPts val="7000"/>
              </a:lnSpc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This is a fragile equilibrium between satisfying volatile demand and avoiding waste.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5512745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CORE PROBLEM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306086" y="4784384"/>
            <a:ext cx="4985461" cy="4317433"/>
            <a:chOff x="0" y="0"/>
            <a:chExt cx="3619627" cy="3134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3061137" y="7468788"/>
            <a:ext cx="3480308" cy="3013963"/>
            <a:chOff x="0" y="0"/>
            <a:chExt cx="3619627" cy="3134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2780085" y="4005595"/>
            <a:ext cx="1798578" cy="1557577"/>
            <a:chOff x="0" y="0"/>
            <a:chExt cx="3619627" cy="3134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300983" y="7795449"/>
            <a:ext cx="3378391" cy="2925703"/>
            <a:chOff x="0" y="0"/>
            <a:chExt cx="3619627" cy="31346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86898" y="1110856"/>
            <a:ext cx="82724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What it 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6898" y="1946261"/>
            <a:ext cx="827240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Wh</a:t>
            </a:r>
            <a:r>
              <a:rPr lang="en-US" sz="24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en a product stocks out, sales data records '0' or a capped amount.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86898" y="4112986"/>
            <a:ext cx="8777834" cy="1215038"/>
            <a:chOff x="0" y="0"/>
            <a:chExt cx="11703779" cy="162005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11703779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The</a:t>
              </a:r>
              <a:r>
                <a:rPr lang="en-US" b="true" sz="36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"Illusion”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082417"/>
              <a:ext cx="11703779" cy="53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Tradi</a:t>
              </a: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tional models misinterpret these zeros as "no demand"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86898" y="6672075"/>
            <a:ext cx="8272402" cy="2529488"/>
            <a:chOff x="0" y="0"/>
            <a:chExt cx="11029869" cy="337265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"/>
              <a:ext cx="11029869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The </a:t>
              </a:r>
              <a:r>
                <a:rPr lang="en-US" b="true" sz="360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Vicious Cycle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82417"/>
              <a:ext cx="11029869" cy="2290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Stockout occurs</a:t>
              </a: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⟶ Model leanrs “low demand” 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⟶ Retailer under-orders 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⟶ Stockout happen sooner, reinforcing the false signal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986898" y="3440447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986898" y="6000563"/>
            <a:ext cx="82724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211000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Our Hypothesis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The Vicious Cycle is in the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91264"/>
            <a:ext cx="16230600" cy="434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Dataset: FreshReta</a:t>
            </a: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ilNet-50K.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Hypothesis: The "demand illusion" is not theoretical; it is an active, measurable flaw in this dataset.</a:t>
            </a:r>
          </a:p>
          <a:p>
            <a:pPr algn="just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Our Goal: To find the statistical "signature" of demand censoring through Exploratory Data Analysis (EDA).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819400"/>
            <a:ext cx="8901605" cy="5521249"/>
          </a:xfrm>
          <a:custGeom>
            <a:avLst/>
            <a:gdLst/>
            <a:ahLst/>
            <a:cxnLst/>
            <a:rect r="r" b="b" t="t" l="l"/>
            <a:pathLst>
              <a:path h="5521249" w="8901605">
                <a:moveTo>
                  <a:pt x="0" y="0"/>
                </a:moveTo>
                <a:lnTo>
                  <a:pt x="8901605" y="0"/>
                </a:lnTo>
                <a:lnTo>
                  <a:pt x="8901605" y="5521249"/>
                </a:lnTo>
                <a:lnTo>
                  <a:pt x="0" y="5521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1211000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Proof of Concept (1/3)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Per-Product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72922"/>
            <a:ext cx="7920702" cy="611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</a:t>
            </a: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igh-performing products (e.g., City 0, 3, 12) see a corresponding spike in stockouts.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This is the signature of demand censoring. Recorded sales (green line) are an understated representation of true demand.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53865" y="2819400"/>
            <a:ext cx="9234135" cy="5727501"/>
          </a:xfrm>
          <a:custGeom>
            <a:avLst/>
            <a:gdLst/>
            <a:ahLst/>
            <a:cxnLst/>
            <a:rect r="r" b="b" t="t" l="l"/>
            <a:pathLst>
              <a:path h="5727501" w="9234135">
                <a:moveTo>
                  <a:pt x="0" y="0"/>
                </a:moveTo>
                <a:lnTo>
                  <a:pt x="9234135" y="0"/>
                </a:lnTo>
                <a:lnTo>
                  <a:pt x="9234135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1211000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Proof of Concept (2/3)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Per-Store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3650"/>
            <a:ext cx="7920702" cy="522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High-Efficiency (e.g., City 3): H</a:t>
            </a: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igh sales (green) with low stockouts (red). They manage inventory well.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Low-Efficiency (e.g., City 10, 12): High sales but critically high stockout rates.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38733" y="2819400"/>
            <a:ext cx="9249267" cy="5725179"/>
          </a:xfrm>
          <a:custGeom>
            <a:avLst/>
            <a:gdLst/>
            <a:ahLst/>
            <a:cxnLst/>
            <a:rect r="r" b="b" t="t" l="l"/>
            <a:pathLst>
              <a:path h="5725179" w="9249267">
                <a:moveTo>
                  <a:pt x="0" y="0"/>
                </a:moveTo>
                <a:lnTo>
                  <a:pt x="9249267" y="0"/>
                </a:lnTo>
                <a:lnTo>
                  <a:pt x="9249267" y="5725179"/>
                </a:lnTo>
                <a:lnTo>
                  <a:pt x="0" y="57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1211000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Proof of Concept (2/3)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Per-Record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80301"/>
            <a:ext cx="7920702" cy="611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The average stockout hours per record (red line) is consistently flat at ~3-3.5 </a:t>
            </a: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hours for all cities</a:t>
            </a:r>
          </a:p>
          <a:p>
            <a:pPr algn="l" marL="755651" indent="-377825" lvl="1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Conclusion: It's an endemic flaw in the baseline inventory policy that artificially depresses sales data across the entire network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3449" y="3886210"/>
            <a:ext cx="13501102" cy="2514580"/>
          </a:xfrm>
          <a:custGeom>
            <a:avLst/>
            <a:gdLst/>
            <a:ahLst/>
            <a:cxnLst/>
            <a:rect r="r" b="b" t="t" l="l"/>
            <a:pathLst>
              <a:path h="2514580" w="13501102">
                <a:moveTo>
                  <a:pt x="0" y="0"/>
                </a:moveTo>
                <a:lnTo>
                  <a:pt x="13501102" y="0"/>
                </a:lnTo>
                <a:lnTo>
                  <a:pt x="13501102" y="2514580"/>
                </a:lnTo>
                <a:lnTo>
                  <a:pt x="0" y="2514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1211000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Our Vision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 Two-Stage Solution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211000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Latent Demand Reconstruction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43751"/>
            <a:ext cx="16230600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Objective: To estimate the unobserved, "true" demand during stockout periods.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Challenge: We must infer demand (D_t) when we only know that it was greater than or equal to the observed sales (S_t).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Our Approac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h: A custom-designed neural network with a Hybrid Loss Function.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For non-stockouts: Uses standard Mean Squared Error (MSE).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For stockouts: Uses a "survival" loss, penalizing the model only if it predicts a demand lower than the observed sales.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211000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Precision Forecasting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74440"/>
            <a:ext cx="16230600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Objective: To generate highly accurate, multi-horizon forecasts using the reconstructed demand data from Stage 1.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Our M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odel: The Temporal Fusion Transformer (TFT).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This state-of-the-art model was chosen for its unique advantages in solving this specific problem.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3106004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Why the Temporal Fusion Transformer (TFT)?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367008"/>
            <a:ext cx="16230600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Native Multi-Horizon Forecasting: Predicts the entire week at once, not just "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one day at a time," which reduces error accumulation.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Handles Heterogeneous Inputs: Seamlessly combines static data (store ID), known future data (promotions), and time-varying data (price, weather).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Built-in Interpretability: It's not a "black box". It shows which past days and which features (e.g., "holiday," "promotion") were most important for its forecast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3106004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Measuring Success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Aligning Metrics with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40171"/>
            <a:ext cx="16230600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Primary Business Metric: WAPE (Weighted Absolute Percentage Error).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Why? It avoids "divisi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on by zero" errors and, more importantly, weights errors by sales volume. A 10% error on a high-selling item is treated as more significant, aligning the model with financial impact.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Primary Training Metric: RMSE + Quantile Loss.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Why? This generates probabilistic forecasts (10th, 50th, 90th percentiles), giving managers a risk-adjusted range for ordering, not just a single number 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3106004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Strategic Impact</a:t>
            </a:r>
          </a:p>
          <a:p>
            <a:pPr algn="l">
              <a:lnSpc>
                <a:spcPts val="5999"/>
              </a:lnSpc>
            </a:pP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The</a:t>
            </a:r>
            <a:r>
              <a:rPr lang="en-US" sz="3999" spc="-39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Triple Bottom 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35904"/>
            <a:ext cx="16230600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Profit (Economic): Maximizes revenue and optimi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zes inventory by eliminating forecasting bias.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People (Social): Enhances customer satisfaction (fewer stockouts) and stabilizes workforce operations.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Planet (Environmental): Directly reduces food waste by aligning orders with true demand.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310600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Aligning with Global Goals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1700"/>
            <a:ext cx="16230600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By minimizing food waste through data-driv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en insights, our solution directly supports SDG 12: Responsible Consumption and Production.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This moves beyond a simple technical exercise to create tangible environmental and social value.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840515" y="2558865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847725"/>
            <a:ext cx="1310600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Our Team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590074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Round 1 Project Roadmap (3 Weeks)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1700"/>
            <a:ext cx="16230600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Week 1 (26/10 - 2/11): Data Deep-Dive &amp; PoC 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Week 2 (2/10 - 9/11): Solution Architecture 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Week 3 (9/11 - 16/11): Synthesis &amp; Finalization </a:t>
            </a:r>
          </a:p>
          <a:p>
            <a:pPr algn="l">
              <a:lnSpc>
                <a:spcPts val="6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300817" y="2578023"/>
          <a:ext cx="5657850" cy="2514600"/>
        </p:xfrm>
        <a:graphic>
          <a:graphicData uri="http://schemas.openxmlformats.org/presentationml/2006/ole">
            <p:oleObj imgW="6781800" imgH="3644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847725"/>
            <a:ext cx="1590074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Risk Assessment &amp; Mitigation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5900746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6500" spc="-65" b="tru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Key Differentiators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00300"/>
            <a:ext cx="16230600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Novel Problem Formulation: We aren't just forecasting sales. We are solving for demand censoring—the hidd</a:t>
            </a: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en flaw behind most errors.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Advanced Technical Approach: We apply a state-of-the-art model (TFT) to reconstructed demand data for unprecedented accuracy.</a:t>
            </a:r>
          </a:p>
          <a:p>
            <a:pPr algn="l" marL="647700" indent="-3238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Interdisciplinary Team: Our team combines technical (AI/SWE) with business (Finance/Logistics) expertise, ensuring the solution is not only accurate but commercially viable and operationally relevant.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DAGnkgDkVFs</dc:identifier>
  <dcterms:modified xsi:type="dcterms:W3CDTF">2011-08-01T06:04:30Z</dcterms:modified>
  <cp:revision>1</cp:revision>
  <dc:title>DOM TEAM</dc:title>
</cp:coreProperties>
</file>